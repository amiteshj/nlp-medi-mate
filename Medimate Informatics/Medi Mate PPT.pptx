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6757BB-8E4A-47D9-B7DE-3F85A906ED04}" type="doc">
      <dgm:prSet loTypeId="urn:microsoft.com/office/officeart/2005/8/layout/hList1" loCatId="list" qsTypeId="urn:microsoft.com/office/officeart/2005/8/quickstyle/3d2" qsCatId="3D" csTypeId="urn:microsoft.com/office/officeart/2005/8/colors/accent1_1" csCatId="accent1" phldr="1"/>
      <dgm:spPr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gm:spPr>
      <dgm:t>
        <a:bodyPr/>
        <a:lstStyle/>
        <a:p>
          <a:endParaRPr lang="en-IN"/>
        </a:p>
      </dgm:t>
    </dgm:pt>
    <dgm:pt modelId="{6A3969A2-C56B-4487-BE0B-5869D4E71D5F}">
      <dgm:prSet phldrT="[Text]" phldr="0"/>
      <dgm:spPr>
        <a:solidFill>
          <a:srgbClr val="00B05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IN" dirty="0">
              <a:latin typeface="Abadi" panose="020B0604020104020204" pitchFamily="34" charset="0"/>
            </a:rPr>
            <a:t>Amitesh Jain</a:t>
          </a:r>
        </a:p>
      </dgm:t>
    </dgm:pt>
    <dgm:pt modelId="{7EFB5025-DF53-489E-862D-C15A0FD0AB6E}" type="parTrans" cxnId="{33FE5838-E3E9-49D1-9B20-DD18E87733BC}">
      <dgm:prSet/>
      <dgm:spPr/>
      <dgm:t>
        <a:bodyPr/>
        <a:lstStyle/>
        <a:p>
          <a:endParaRPr lang="en-IN"/>
        </a:p>
      </dgm:t>
    </dgm:pt>
    <dgm:pt modelId="{58F68718-B9E6-4991-A7E3-72F47E5FECC9}" type="sibTrans" cxnId="{33FE5838-E3E9-49D1-9B20-DD18E87733BC}">
      <dgm:prSet/>
      <dgm:spPr/>
      <dgm:t>
        <a:bodyPr/>
        <a:lstStyle/>
        <a:p>
          <a:endParaRPr lang="en-IN"/>
        </a:p>
      </dgm:t>
    </dgm:pt>
    <dgm:pt modelId="{0FC4F22D-08E8-498F-903B-AB2ACF5247A7}">
      <dgm:prSet phldrT="[Text]" phldr="0" custT="1"/>
      <dgm:spPr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 anchor="ctr"/>
        <a:lstStyle/>
        <a:p>
          <a:pPr algn="ctr">
            <a:buNone/>
          </a:pPr>
          <a:r>
            <a:rPr lang="en-IN" sz="1800" dirty="0">
              <a:latin typeface="Abadi" panose="020B0604020104020204" pitchFamily="34" charset="0"/>
            </a:rPr>
            <a:t>23102165</a:t>
          </a:r>
        </a:p>
      </dgm:t>
    </dgm:pt>
    <dgm:pt modelId="{0F4F5F77-EE4B-4079-B03E-AA7916CF8853}" type="parTrans" cxnId="{626E10EF-FB15-494E-AB7A-104C34F4573D}">
      <dgm:prSet/>
      <dgm:spPr/>
      <dgm:t>
        <a:bodyPr/>
        <a:lstStyle/>
        <a:p>
          <a:endParaRPr lang="en-IN"/>
        </a:p>
      </dgm:t>
    </dgm:pt>
    <dgm:pt modelId="{C2FFAA1C-F144-4A28-99BB-E63FC45F6E24}" type="sibTrans" cxnId="{626E10EF-FB15-494E-AB7A-104C34F4573D}">
      <dgm:prSet/>
      <dgm:spPr/>
      <dgm:t>
        <a:bodyPr/>
        <a:lstStyle/>
        <a:p>
          <a:endParaRPr lang="en-IN"/>
        </a:p>
      </dgm:t>
    </dgm:pt>
    <dgm:pt modelId="{C71CE0AE-CBDB-479A-A551-CD9C04F876C8}">
      <dgm:prSet phldrT="[Text]" phldr="0" custT="1"/>
      <dgm:spPr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 anchor="ctr"/>
        <a:lstStyle/>
        <a:p>
          <a:pPr algn="ctr">
            <a:buNone/>
          </a:pPr>
          <a:r>
            <a:rPr lang="en-IN" sz="1800" dirty="0">
              <a:latin typeface="Abadi" panose="020B0604020104020204" pitchFamily="34" charset="0"/>
            </a:rPr>
            <a:t>BE B</a:t>
          </a:r>
        </a:p>
      </dgm:t>
    </dgm:pt>
    <dgm:pt modelId="{778E6C35-5904-490C-B9C7-545A14A6D3D5}" type="parTrans" cxnId="{BCDCA467-81CC-47F4-BB6B-590E716C2476}">
      <dgm:prSet/>
      <dgm:spPr/>
      <dgm:t>
        <a:bodyPr/>
        <a:lstStyle/>
        <a:p>
          <a:endParaRPr lang="en-IN"/>
        </a:p>
      </dgm:t>
    </dgm:pt>
    <dgm:pt modelId="{5DBD2D0A-402B-4C2C-AD57-C88FE5ECBC15}" type="sibTrans" cxnId="{BCDCA467-81CC-47F4-BB6B-590E716C2476}">
      <dgm:prSet/>
      <dgm:spPr/>
      <dgm:t>
        <a:bodyPr/>
        <a:lstStyle/>
        <a:p>
          <a:endParaRPr lang="en-IN"/>
        </a:p>
      </dgm:t>
    </dgm:pt>
    <dgm:pt modelId="{468262EB-6F63-47ED-9F5B-113788C4DC46}">
      <dgm:prSet phldrT="[Text]" phldr="0"/>
      <dgm:spPr>
        <a:solidFill>
          <a:srgbClr val="00B05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IN" dirty="0">
              <a:latin typeface="Abadi" panose="020B0604020104020204" pitchFamily="34" charset="0"/>
            </a:rPr>
            <a:t>Sanika Jayawant</a:t>
          </a:r>
        </a:p>
      </dgm:t>
    </dgm:pt>
    <dgm:pt modelId="{7598CD71-FA50-4585-B34B-1DD4FE3FC9F2}" type="parTrans" cxnId="{8E51D3AD-1202-4A4E-B795-902060244851}">
      <dgm:prSet/>
      <dgm:spPr/>
      <dgm:t>
        <a:bodyPr/>
        <a:lstStyle/>
        <a:p>
          <a:endParaRPr lang="en-IN"/>
        </a:p>
      </dgm:t>
    </dgm:pt>
    <dgm:pt modelId="{FA93E8C6-A46E-47B4-9C92-C7BD04E69C86}" type="sibTrans" cxnId="{8E51D3AD-1202-4A4E-B795-902060244851}">
      <dgm:prSet/>
      <dgm:spPr/>
      <dgm:t>
        <a:bodyPr/>
        <a:lstStyle/>
        <a:p>
          <a:endParaRPr lang="en-IN"/>
        </a:p>
      </dgm:t>
    </dgm:pt>
    <dgm:pt modelId="{7ACDBAE5-312E-4E28-A4C6-B0491700FC19}">
      <dgm:prSet phldrT="[Text]" phldr="0" custT="1"/>
      <dgm:spPr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 anchor="ctr"/>
        <a:lstStyle/>
        <a:p>
          <a:pPr algn="ctr">
            <a:buNone/>
          </a:pPr>
          <a:r>
            <a:rPr lang="en-IN" sz="1800" dirty="0">
              <a:latin typeface="Abadi" panose="020B0604020104020204" pitchFamily="34" charset="0"/>
            </a:rPr>
            <a:t>23102134</a:t>
          </a:r>
        </a:p>
      </dgm:t>
    </dgm:pt>
    <dgm:pt modelId="{748DE473-E9D0-4518-ACA4-84014089F673}" type="parTrans" cxnId="{2126F630-C9D2-475D-8727-836ED820C070}">
      <dgm:prSet/>
      <dgm:spPr/>
      <dgm:t>
        <a:bodyPr/>
        <a:lstStyle/>
        <a:p>
          <a:endParaRPr lang="en-IN"/>
        </a:p>
      </dgm:t>
    </dgm:pt>
    <dgm:pt modelId="{45706EA9-6885-4B89-A8DF-DCF46F8666C8}" type="sibTrans" cxnId="{2126F630-C9D2-475D-8727-836ED820C070}">
      <dgm:prSet/>
      <dgm:spPr/>
      <dgm:t>
        <a:bodyPr/>
        <a:lstStyle/>
        <a:p>
          <a:endParaRPr lang="en-IN"/>
        </a:p>
      </dgm:t>
    </dgm:pt>
    <dgm:pt modelId="{6952DE60-B0C9-4209-8B7C-243CBD5DA0EE}">
      <dgm:prSet phldrT="[Text]" phldr="0" custT="1"/>
      <dgm:spPr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 anchor="ctr"/>
        <a:lstStyle/>
        <a:p>
          <a:pPr algn="ctr">
            <a:buNone/>
          </a:pPr>
          <a:r>
            <a:rPr lang="en-IN" sz="1800" dirty="0">
              <a:latin typeface="Abadi" panose="020B0604020104020204" pitchFamily="34" charset="0"/>
            </a:rPr>
            <a:t>BE B</a:t>
          </a:r>
        </a:p>
      </dgm:t>
    </dgm:pt>
    <dgm:pt modelId="{03D875CF-6663-4355-8B88-42FBE79CF154}" type="parTrans" cxnId="{1717B6EF-9351-47DE-A517-2548462DC800}">
      <dgm:prSet/>
      <dgm:spPr/>
      <dgm:t>
        <a:bodyPr/>
        <a:lstStyle/>
        <a:p>
          <a:endParaRPr lang="en-IN"/>
        </a:p>
      </dgm:t>
    </dgm:pt>
    <dgm:pt modelId="{4EE60170-86A7-40A8-A380-9C506BF2F955}" type="sibTrans" cxnId="{1717B6EF-9351-47DE-A517-2548462DC800}">
      <dgm:prSet/>
      <dgm:spPr/>
      <dgm:t>
        <a:bodyPr/>
        <a:lstStyle/>
        <a:p>
          <a:endParaRPr lang="en-IN"/>
        </a:p>
      </dgm:t>
    </dgm:pt>
    <dgm:pt modelId="{837B7E6E-EF38-4842-8BF9-D52F3F7B77C4}">
      <dgm:prSet phldrT="[Text]" phldr="0"/>
      <dgm:spPr>
        <a:solidFill>
          <a:srgbClr val="00B05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IN" dirty="0" err="1">
              <a:latin typeface="Abadi" panose="020B0604020104020204" pitchFamily="34" charset="0"/>
            </a:rPr>
            <a:t>Sobhasmita</a:t>
          </a:r>
          <a:r>
            <a:rPr lang="en-IN" dirty="0">
              <a:latin typeface="Abadi" panose="020B0604020104020204" pitchFamily="34" charset="0"/>
            </a:rPr>
            <a:t> Mohapatra</a:t>
          </a:r>
        </a:p>
      </dgm:t>
    </dgm:pt>
    <dgm:pt modelId="{EE72CFDB-BE89-4688-8244-EF9936B37B1E}" type="parTrans" cxnId="{421F9E10-5142-4220-BDD8-9E3733B37F67}">
      <dgm:prSet/>
      <dgm:spPr/>
      <dgm:t>
        <a:bodyPr/>
        <a:lstStyle/>
        <a:p>
          <a:endParaRPr lang="en-IN"/>
        </a:p>
      </dgm:t>
    </dgm:pt>
    <dgm:pt modelId="{101B146D-9B82-4D67-8959-F5427092B022}" type="sibTrans" cxnId="{421F9E10-5142-4220-BDD8-9E3733B37F67}">
      <dgm:prSet/>
      <dgm:spPr/>
      <dgm:t>
        <a:bodyPr/>
        <a:lstStyle/>
        <a:p>
          <a:endParaRPr lang="en-IN"/>
        </a:p>
      </dgm:t>
    </dgm:pt>
    <dgm:pt modelId="{55F1C1B6-76C6-4D45-AFA4-F4905C299C1D}">
      <dgm:prSet phldrT="[Text]" phldr="0" custT="1"/>
      <dgm:spPr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 anchor="ctr"/>
        <a:lstStyle/>
        <a:p>
          <a:pPr algn="ctr">
            <a:buNone/>
          </a:pPr>
          <a:r>
            <a:rPr lang="en-IN" sz="1800" dirty="0">
              <a:latin typeface="Abadi" panose="020B0604020104020204" pitchFamily="34" charset="0"/>
            </a:rPr>
            <a:t>23102045</a:t>
          </a:r>
        </a:p>
      </dgm:t>
    </dgm:pt>
    <dgm:pt modelId="{66C869A6-B204-4738-98AC-1402AFC1DC1F}" type="parTrans" cxnId="{3F296C2B-034D-40FA-85C2-3476E1789453}">
      <dgm:prSet/>
      <dgm:spPr/>
      <dgm:t>
        <a:bodyPr/>
        <a:lstStyle/>
        <a:p>
          <a:endParaRPr lang="en-IN"/>
        </a:p>
      </dgm:t>
    </dgm:pt>
    <dgm:pt modelId="{926634A1-0264-41CF-8FEA-4D507F6ABDD4}" type="sibTrans" cxnId="{3F296C2B-034D-40FA-85C2-3476E1789453}">
      <dgm:prSet/>
      <dgm:spPr/>
      <dgm:t>
        <a:bodyPr/>
        <a:lstStyle/>
        <a:p>
          <a:endParaRPr lang="en-IN"/>
        </a:p>
      </dgm:t>
    </dgm:pt>
    <dgm:pt modelId="{57046D82-0441-4C28-9CE7-08D79C4ED621}">
      <dgm:prSet phldrT="[Text]" phldr="0" custT="1"/>
      <dgm:spPr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 anchor="ctr"/>
        <a:lstStyle/>
        <a:p>
          <a:pPr algn="ctr">
            <a:buNone/>
          </a:pPr>
          <a:r>
            <a:rPr lang="en-IN" sz="1800" dirty="0">
              <a:latin typeface="Abadi" panose="020B0604020104020204" pitchFamily="34" charset="0"/>
            </a:rPr>
            <a:t>BE B</a:t>
          </a:r>
        </a:p>
      </dgm:t>
    </dgm:pt>
    <dgm:pt modelId="{B42F1235-2B50-456A-AF67-CF536745986F}" type="parTrans" cxnId="{A3613E52-EE99-4AAC-A262-0670C2D32683}">
      <dgm:prSet/>
      <dgm:spPr/>
      <dgm:t>
        <a:bodyPr/>
        <a:lstStyle/>
        <a:p>
          <a:endParaRPr lang="en-IN"/>
        </a:p>
      </dgm:t>
    </dgm:pt>
    <dgm:pt modelId="{DBC48E22-909E-4678-9957-CA0501D33120}" type="sibTrans" cxnId="{A3613E52-EE99-4AAC-A262-0670C2D32683}">
      <dgm:prSet/>
      <dgm:spPr/>
      <dgm:t>
        <a:bodyPr/>
        <a:lstStyle/>
        <a:p>
          <a:endParaRPr lang="en-IN"/>
        </a:p>
      </dgm:t>
    </dgm:pt>
    <dgm:pt modelId="{E4EE9289-02DE-4382-ACA3-1C4347EEE49C}" type="pres">
      <dgm:prSet presAssocID="{D96757BB-8E4A-47D9-B7DE-3F85A906ED04}" presName="Name0" presStyleCnt="0">
        <dgm:presLayoutVars>
          <dgm:dir/>
          <dgm:animLvl val="lvl"/>
          <dgm:resizeHandles val="exact"/>
        </dgm:presLayoutVars>
      </dgm:prSet>
      <dgm:spPr/>
    </dgm:pt>
    <dgm:pt modelId="{79EA52EF-2B3C-4E71-A052-5307C2ABBB4A}" type="pres">
      <dgm:prSet presAssocID="{6A3969A2-C56B-4487-BE0B-5869D4E71D5F}" presName="composit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05BB2390-9244-4417-8A6F-5A2C562BA912}" type="pres">
      <dgm:prSet presAssocID="{6A3969A2-C56B-4487-BE0B-5869D4E71D5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B3B4B85-F559-469A-8638-3542B666BF87}" type="pres">
      <dgm:prSet presAssocID="{6A3969A2-C56B-4487-BE0B-5869D4E71D5F}" presName="desTx" presStyleLbl="alignAccFollowNode1" presStyleIdx="0" presStyleCnt="3">
        <dgm:presLayoutVars>
          <dgm:bulletEnabled val="1"/>
        </dgm:presLayoutVars>
      </dgm:prSet>
      <dgm:spPr/>
    </dgm:pt>
    <dgm:pt modelId="{072529F9-ECAE-44D0-AC45-F6EE36A2191F}" type="pres">
      <dgm:prSet presAssocID="{58F68718-B9E6-4991-A7E3-72F47E5FECC9}" presName="spac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23842E70-77C5-42EB-A662-C52EEF8DC603}" type="pres">
      <dgm:prSet presAssocID="{468262EB-6F63-47ED-9F5B-113788C4DC46}" presName="composit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791EEF3F-4187-40C8-B43A-08FBD94D7E2F}" type="pres">
      <dgm:prSet presAssocID="{468262EB-6F63-47ED-9F5B-113788C4DC4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9130BD5-1624-42FF-8A6B-DF97448A0DD6}" type="pres">
      <dgm:prSet presAssocID="{468262EB-6F63-47ED-9F5B-113788C4DC46}" presName="desTx" presStyleLbl="alignAccFollowNode1" presStyleIdx="1" presStyleCnt="3">
        <dgm:presLayoutVars>
          <dgm:bulletEnabled val="1"/>
        </dgm:presLayoutVars>
      </dgm:prSet>
      <dgm:spPr/>
    </dgm:pt>
    <dgm:pt modelId="{F87C09E8-5BDC-4215-AA98-1DF2A00DC4ED}" type="pres">
      <dgm:prSet presAssocID="{FA93E8C6-A46E-47B4-9C92-C7BD04E69C86}" presName="spac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B1C0985D-7B4B-4FA4-A6C3-3F702F80826D}" type="pres">
      <dgm:prSet presAssocID="{837B7E6E-EF38-4842-8BF9-D52F3F7B77C4}" presName="composit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42EE2A5D-DD0C-42AE-A1D3-16A7584B495A}" type="pres">
      <dgm:prSet presAssocID="{837B7E6E-EF38-4842-8BF9-D52F3F7B77C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6E394FC-77BA-43DC-BE87-4AA80C30D955}" type="pres">
      <dgm:prSet presAssocID="{837B7E6E-EF38-4842-8BF9-D52F3F7B77C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21F9E10-5142-4220-BDD8-9E3733B37F67}" srcId="{D96757BB-8E4A-47D9-B7DE-3F85A906ED04}" destId="{837B7E6E-EF38-4842-8BF9-D52F3F7B77C4}" srcOrd="2" destOrd="0" parTransId="{EE72CFDB-BE89-4688-8244-EF9936B37B1E}" sibTransId="{101B146D-9B82-4D67-8959-F5427092B022}"/>
    <dgm:cxn modelId="{9F87E017-EB0F-43C9-9E1F-4E5132767B6D}" type="presOf" srcId="{837B7E6E-EF38-4842-8BF9-D52F3F7B77C4}" destId="{42EE2A5D-DD0C-42AE-A1D3-16A7584B495A}" srcOrd="0" destOrd="0" presId="urn:microsoft.com/office/officeart/2005/8/layout/hList1"/>
    <dgm:cxn modelId="{506C6C18-7678-43B7-B4D1-255D6987B9AF}" type="presOf" srcId="{7ACDBAE5-312E-4E28-A4C6-B0491700FC19}" destId="{49130BD5-1624-42FF-8A6B-DF97448A0DD6}" srcOrd="0" destOrd="0" presId="urn:microsoft.com/office/officeart/2005/8/layout/hList1"/>
    <dgm:cxn modelId="{CD8F7921-7907-40E3-A869-CA71E61AA8B3}" type="presOf" srcId="{468262EB-6F63-47ED-9F5B-113788C4DC46}" destId="{791EEF3F-4187-40C8-B43A-08FBD94D7E2F}" srcOrd="0" destOrd="0" presId="urn:microsoft.com/office/officeart/2005/8/layout/hList1"/>
    <dgm:cxn modelId="{3F296C2B-034D-40FA-85C2-3476E1789453}" srcId="{837B7E6E-EF38-4842-8BF9-D52F3F7B77C4}" destId="{55F1C1B6-76C6-4D45-AFA4-F4905C299C1D}" srcOrd="0" destOrd="0" parTransId="{66C869A6-B204-4738-98AC-1402AFC1DC1F}" sibTransId="{926634A1-0264-41CF-8FEA-4D507F6ABDD4}"/>
    <dgm:cxn modelId="{2126F630-C9D2-475D-8727-836ED820C070}" srcId="{468262EB-6F63-47ED-9F5B-113788C4DC46}" destId="{7ACDBAE5-312E-4E28-A4C6-B0491700FC19}" srcOrd="0" destOrd="0" parTransId="{748DE473-E9D0-4518-ACA4-84014089F673}" sibTransId="{45706EA9-6885-4B89-A8DF-DCF46F8666C8}"/>
    <dgm:cxn modelId="{33FE5838-E3E9-49D1-9B20-DD18E87733BC}" srcId="{D96757BB-8E4A-47D9-B7DE-3F85A906ED04}" destId="{6A3969A2-C56B-4487-BE0B-5869D4E71D5F}" srcOrd="0" destOrd="0" parTransId="{7EFB5025-DF53-489E-862D-C15A0FD0AB6E}" sibTransId="{58F68718-B9E6-4991-A7E3-72F47E5FECC9}"/>
    <dgm:cxn modelId="{19D9AD3A-EF7D-4C78-9872-23399E3FF866}" type="presOf" srcId="{0FC4F22D-08E8-498F-903B-AB2ACF5247A7}" destId="{8B3B4B85-F559-469A-8638-3542B666BF87}" srcOrd="0" destOrd="0" presId="urn:microsoft.com/office/officeart/2005/8/layout/hList1"/>
    <dgm:cxn modelId="{BCDCA467-81CC-47F4-BB6B-590E716C2476}" srcId="{6A3969A2-C56B-4487-BE0B-5869D4E71D5F}" destId="{C71CE0AE-CBDB-479A-A551-CD9C04F876C8}" srcOrd="1" destOrd="0" parTransId="{778E6C35-5904-490C-B9C7-545A14A6D3D5}" sibTransId="{5DBD2D0A-402B-4C2C-AD57-C88FE5ECBC15}"/>
    <dgm:cxn modelId="{A3613E52-EE99-4AAC-A262-0670C2D32683}" srcId="{837B7E6E-EF38-4842-8BF9-D52F3F7B77C4}" destId="{57046D82-0441-4C28-9CE7-08D79C4ED621}" srcOrd="1" destOrd="0" parTransId="{B42F1235-2B50-456A-AF67-CF536745986F}" sibTransId="{DBC48E22-909E-4678-9957-CA0501D33120}"/>
    <dgm:cxn modelId="{43391E7A-8153-4A4C-ABC1-A944C462E631}" type="presOf" srcId="{C71CE0AE-CBDB-479A-A551-CD9C04F876C8}" destId="{8B3B4B85-F559-469A-8638-3542B666BF87}" srcOrd="0" destOrd="1" presId="urn:microsoft.com/office/officeart/2005/8/layout/hList1"/>
    <dgm:cxn modelId="{1713DD82-296E-4453-B3F8-E6538AF055D5}" type="presOf" srcId="{6952DE60-B0C9-4209-8B7C-243CBD5DA0EE}" destId="{49130BD5-1624-42FF-8A6B-DF97448A0DD6}" srcOrd="0" destOrd="1" presId="urn:microsoft.com/office/officeart/2005/8/layout/hList1"/>
    <dgm:cxn modelId="{CBB1C28E-9034-44A8-B7A7-6DE4C607C7FF}" type="presOf" srcId="{6A3969A2-C56B-4487-BE0B-5869D4E71D5F}" destId="{05BB2390-9244-4417-8A6F-5A2C562BA912}" srcOrd="0" destOrd="0" presId="urn:microsoft.com/office/officeart/2005/8/layout/hList1"/>
    <dgm:cxn modelId="{8E51D3AD-1202-4A4E-B795-902060244851}" srcId="{D96757BB-8E4A-47D9-B7DE-3F85A906ED04}" destId="{468262EB-6F63-47ED-9F5B-113788C4DC46}" srcOrd="1" destOrd="0" parTransId="{7598CD71-FA50-4585-B34B-1DD4FE3FC9F2}" sibTransId="{FA93E8C6-A46E-47B4-9C92-C7BD04E69C86}"/>
    <dgm:cxn modelId="{6C3B2DC5-ACCE-469C-A6E8-B53DF890BBFE}" type="presOf" srcId="{57046D82-0441-4C28-9CE7-08D79C4ED621}" destId="{56E394FC-77BA-43DC-BE87-4AA80C30D955}" srcOrd="0" destOrd="1" presId="urn:microsoft.com/office/officeart/2005/8/layout/hList1"/>
    <dgm:cxn modelId="{AA1E02DA-C25E-46B5-962E-1A8BBA115B07}" type="presOf" srcId="{D96757BB-8E4A-47D9-B7DE-3F85A906ED04}" destId="{E4EE9289-02DE-4382-ACA3-1C4347EEE49C}" srcOrd="0" destOrd="0" presId="urn:microsoft.com/office/officeart/2005/8/layout/hList1"/>
    <dgm:cxn modelId="{EF232DDB-520F-4CDA-AD3E-2C476D3064C2}" type="presOf" srcId="{55F1C1B6-76C6-4D45-AFA4-F4905C299C1D}" destId="{56E394FC-77BA-43DC-BE87-4AA80C30D955}" srcOrd="0" destOrd="0" presId="urn:microsoft.com/office/officeart/2005/8/layout/hList1"/>
    <dgm:cxn modelId="{626E10EF-FB15-494E-AB7A-104C34F4573D}" srcId="{6A3969A2-C56B-4487-BE0B-5869D4E71D5F}" destId="{0FC4F22D-08E8-498F-903B-AB2ACF5247A7}" srcOrd="0" destOrd="0" parTransId="{0F4F5F77-EE4B-4079-B03E-AA7916CF8853}" sibTransId="{C2FFAA1C-F144-4A28-99BB-E63FC45F6E24}"/>
    <dgm:cxn modelId="{1717B6EF-9351-47DE-A517-2548462DC800}" srcId="{468262EB-6F63-47ED-9F5B-113788C4DC46}" destId="{6952DE60-B0C9-4209-8B7C-243CBD5DA0EE}" srcOrd="1" destOrd="0" parTransId="{03D875CF-6663-4355-8B88-42FBE79CF154}" sibTransId="{4EE60170-86A7-40A8-A380-9C506BF2F955}"/>
    <dgm:cxn modelId="{D73371F4-F4C8-49AB-B13D-31A05CB53197}" type="presParOf" srcId="{E4EE9289-02DE-4382-ACA3-1C4347EEE49C}" destId="{79EA52EF-2B3C-4E71-A052-5307C2ABBB4A}" srcOrd="0" destOrd="0" presId="urn:microsoft.com/office/officeart/2005/8/layout/hList1"/>
    <dgm:cxn modelId="{DB4B4EA1-FB13-402B-BDE8-FBB15F3556CF}" type="presParOf" srcId="{79EA52EF-2B3C-4E71-A052-5307C2ABBB4A}" destId="{05BB2390-9244-4417-8A6F-5A2C562BA912}" srcOrd="0" destOrd="0" presId="urn:microsoft.com/office/officeart/2005/8/layout/hList1"/>
    <dgm:cxn modelId="{53442FA0-E2B1-4263-A269-0932593E2FC1}" type="presParOf" srcId="{79EA52EF-2B3C-4E71-A052-5307C2ABBB4A}" destId="{8B3B4B85-F559-469A-8638-3542B666BF87}" srcOrd="1" destOrd="0" presId="urn:microsoft.com/office/officeart/2005/8/layout/hList1"/>
    <dgm:cxn modelId="{6BEE3CCF-E679-4B3C-A50D-E5FF4571D2D3}" type="presParOf" srcId="{E4EE9289-02DE-4382-ACA3-1C4347EEE49C}" destId="{072529F9-ECAE-44D0-AC45-F6EE36A2191F}" srcOrd="1" destOrd="0" presId="urn:microsoft.com/office/officeart/2005/8/layout/hList1"/>
    <dgm:cxn modelId="{93273D9F-FB0A-4180-9ED9-CB0C05BE5AD2}" type="presParOf" srcId="{E4EE9289-02DE-4382-ACA3-1C4347EEE49C}" destId="{23842E70-77C5-42EB-A662-C52EEF8DC603}" srcOrd="2" destOrd="0" presId="urn:microsoft.com/office/officeart/2005/8/layout/hList1"/>
    <dgm:cxn modelId="{12ED0EA0-73DC-44DD-B020-FA4F891E9CC5}" type="presParOf" srcId="{23842E70-77C5-42EB-A662-C52EEF8DC603}" destId="{791EEF3F-4187-40C8-B43A-08FBD94D7E2F}" srcOrd="0" destOrd="0" presId="urn:microsoft.com/office/officeart/2005/8/layout/hList1"/>
    <dgm:cxn modelId="{AC8089F3-3FB0-47C6-8155-357B8F6D8D0F}" type="presParOf" srcId="{23842E70-77C5-42EB-A662-C52EEF8DC603}" destId="{49130BD5-1624-42FF-8A6B-DF97448A0DD6}" srcOrd="1" destOrd="0" presId="urn:microsoft.com/office/officeart/2005/8/layout/hList1"/>
    <dgm:cxn modelId="{DF06ED9C-AACC-40FE-9408-967A60D7A610}" type="presParOf" srcId="{E4EE9289-02DE-4382-ACA3-1C4347EEE49C}" destId="{F87C09E8-5BDC-4215-AA98-1DF2A00DC4ED}" srcOrd="3" destOrd="0" presId="urn:microsoft.com/office/officeart/2005/8/layout/hList1"/>
    <dgm:cxn modelId="{ECA1E36F-4B81-4B5A-8026-577EAED32FDF}" type="presParOf" srcId="{E4EE9289-02DE-4382-ACA3-1C4347EEE49C}" destId="{B1C0985D-7B4B-4FA4-A6C3-3F702F80826D}" srcOrd="4" destOrd="0" presId="urn:microsoft.com/office/officeart/2005/8/layout/hList1"/>
    <dgm:cxn modelId="{E6D2BD6F-C312-450B-8062-B1E795000F58}" type="presParOf" srcId="{B1C0985D-7B4B-4FA4-A6C3-3F702F80826D}" destId="{42EE2A5D-DD0C-42AE-A1D3-16A7584B495A}" srcOrd="0" destOrd="0" presId="urn:microsoft.com/office/officeart/2005/8/layout/hList1"/>
    <dgm:cxn modelId="{06BBB968-D3AD-46DE-BC1C-9DB070BEB934}" type="presParOf" srcId="{B1C0985D-7B4B-4FA4-A6C3-3F702F80826D}" destId="{56E394FC-77BA-43DC-BE87-4AA80C30D95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B2390-9244-4417-8A6F-5A2C562BA912}">
      <dsp:nvSpPr>
        <dsp:cNvPr id="0" name=""/>
        <dsp:cNvSpPr/>
      </dsp:nvSpPr>
      <dsp:spPr>
        <a:xfrm>
          <a:off x="1951" y="822792"/>
          <a:ext cx="1903190" cy="752006"/>
        </a:xfrm>
        <a:prstGeom prst="rect">
          <a:avLst/>
        </a:prstGeom>
        <a:solidFill>
          <a:srgbClr val="00B050"/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latin typeface="Abadi" panose="020B0604020104020204" pitchFamily="34" charset="0"/>
            </a:rPr>
            <a:t>Amitesh Jain</a:t>
          </a:r>
        </a:p>
      </dsp:txBody>
      <dsp:txXfrm>
        <a:off x="1951" y="822792"/>
        <a:ext cx="1903190" cy="752006"/>
      </dsp:txXfrm>
    </dsp:sp>
    <dsp:sp modelId="{8B3B4B85-F559-469A-8638-3542B666BF87}">
      <dsp:nvSpPr>
        <dsp:cNvPr id="0" name=""/>
        <dsp:cNvSpPr/>
      </dsp:nvSpPr>
      <dsp:spPr>
        <a:xfrm>
          <a:off x="1951" y="1574799"/>
          <a:ext cx="1903190" cy="1010160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9525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ctr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kern="1200" dirty="0">
              <a:latin typeface="Abadi" panose="020B0604020104020204" pitchFamily="34" charset="0"/>
            </a:rPr>
            <a:t>23102165</a:t>
          </a:r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kern="1200" dirty="0">
              <a:latin typeface="Abadi" panose="020B0604020104020204" pitchFamily="34" charset="0"/>
            </a:rPr>
            <a:t>BE B</a:t>
          </a:r>
        </a:p>
      </dsp:txBody>
      <dsp:txXfrm>
        <a:off x="1951" y="1574799"/>
        <a:ext cx="1903190" cy="1010160"/>
      </dsp:txXfrm>
    </dsp:sp>
    <dsp:sp modelId="{791EEF3F-4187-40C8-B43A-08FBD94D7E2F}">
      <dsp:nvSpPr>
        <dsp:cNvPr id="0" name=""/>
        <dsp:cNvSpPr/>
      </dsp:nvSpPr>
      <dsp:spPr>
        <a:xfrm>
          <a:off x="2171588" y="822792"/>
          <a:ext cx="1903190" cy="752006"/>
        </a:xfrm>
        <a:prstGeom prst="rect">
          <a:avLst/>
        </a:prstGeom>
        <a:solidFill>
          <a:srgbClr val="00B050"/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latin typeface="Abadi" panose="020B0604020104020204" pitchFamily="34" charset="0"/>
            </a:rPr>
            <a:t>Sanika Jayawant</a:t>
          </a:r>
        </a:p>
      </dsp:txBody>
      <dsp:txXfrm>
        <a:off x="2171588" y="822792"/>
        <a:ext cx="1903190" cy="752006"/>
      </dsp:txXfrm>
    </dsp:sp>
    <dsp:sp modelId="{49130BD5-1624-42FF-8A6B-DF97448A0DD6}">
      <dsp:nvSpPr>
        <dsp:cNvPr id="0" name=""/>
        <dsp:cNvSpPr/>
      </dsp:nvSpPr>
      <dsp:spPr>
        <a:xfrm>
          <a:off x="2171588" y="1574799"/>
          <a:ext cx="1903190" cy="1010160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9525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ctr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kern="1200" dirty="0">
              <a:latin typeface="Abadi" panose="020B0604020104020204" pitchFamily="34" charset="0"/>
            </a:rPr>
            <a:t>23102134</a:t>
          </a:r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kern="1200" dirty="0">
              <a:latin typeface="Abadi" panose="020B0604020104020204" pitchFamily="34" charset="0"/>
            </a:rPr>
            <a:t>BE B</a:t>
          </a:r>
        </a:p>
      </dsp:txBody>
      <dsp:txXfrm>
        <a:off x="2171588" y="1574799"/>
        <a:ext cx="1903190" cy="1010160"/>
      </dsp:txXfrm>
    </dsp:sp>
    <dsp:sp modelId="{42EE2A5D-DD0C-42AE-A1D3-16A7584B495A}">
      <dsp:nvSpPr>
        <dsp:cNvPr id="0" name=""/>
        <dsp:cNvSpPr/>
      </dsp:nvSpPr>
      <dsp:spPr>
        <a:xfrm>
          <a:off x="4341225" y="822792"/>
          <a:ext cx="1903190" cy="752006"/>
        </a:xfrm>
        <a:prstGeom prst="rect">
          <a:avLst/>
        </a:prstGeom>
        <a:solidFill>
          <a:srgbClr val="00B050"/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 err="1">
              <a:latin typeface="Abadi" panose="020B0604020104020204" pitchFamily="34" charset="0"/>
            </a:rPr>
            <a:t>Sobhasmita</a:t>
          </a:r>
          <a:r>
            <a:rPr lang="en-IN" sz="2300" kern="1200" dirty="0">
              <a:latin typeface="Abadi" panose="020B0604020104020204" pitchFamily="34" charset="0"/>
            </a:rPr>
            <a:t> Mohapatra</a:t>
          </a:r>
        </a:p>
      </dsp:txBody>
      <dsp:txXfrm>
        <a:off x="4341225" y="822792"/>
        <a:ext cx="1903190" cy="752006"/>
      </dsp:txXfrm>
    </dsp:sp>
    <dsp:sp modelId="{56E394FC-77BA-43DC-BE87-4AA80C30D955}">
      <dsp:nvSpPr>
        <dsp:cNvPr id="0" name=""/>
        <dsp:cNvSpPr/>
      </dsp:nvSpPr>
      <dsp:spPr>
        <a:xfrm>
          <a:off x="4341225" y="1574799"/>
          <a:ext cx="1903190" cy="1010160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9525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ctr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kern="1200" dirty="0">
              <a:latin typeface="Abadi" panose="020B0604020104020204" pitchFamily="34" charset="0"/>
            </a:rPr>
            <a:t>23102045</a:t>
          </a:r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kern="1200" dirty="0">
              <a:latin typeface="Abadi" panose="020B0604020104020204" pitchFamily="34" charset="0"/>
            </a:rPr>
            <a:t>BE B</a:t>
          </a:r>
        </a:p>
      </dsp:txBody>
      <dsp:txXfrm>
        <a:off x="4341225" y="1574799"/>
        <a:ext cx="1903190" cy="1010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85246-9F3E-41C4-9E2D-92E5045A990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C29BE-FCDD-47D6-915F-9091A05BA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164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4169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12-10-2026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12-10-2026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12-10-2026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4660558" y="2069105"/>
            <a:ext cx="2870879" cy="861734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ROG Fonts" panose="00000500000000000000" pitchFamily="50" charset="0"/>
                <a:cs typeface="Biome" panose="020B0503030204020804" pitchFamily="34" charset="0"/>
              </a:rPr>
              <a:t>M</a:t>
            </a:r>
            <a:r>
              <a:rPr lang="en-US" sz="2800" b="1" dirty="0">
                <a:latin typeface="Biome" panose="020B0503030204020804" pitchFamily="34" charset="0"/>
                <a:cs typeface="Biome" panose="020B0503030204020804" pitchFamily="34" charset="0"/>
              </a:rPr>
              <a:t>edi - 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G Fonts" panose="00000500000000000000" pitchFamily="50" charset="0"/>
                <a:cs typeface="Biome" panose="020B0503030204020804" pitchFamily="34" charset="0"/>
              </a:rPr>
              <a:t>M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ate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ome" panose="020B0503030204020804" pitchFamily="34" charset="0"/>
              <a:ea typeface="STCaiyun" panose="02010800040101010101" pitchFamily="2" charset="-122"/>
              <a:cs typeface="Biome" panose="020B0503030204020804" pitchFamily="34" charset="0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456360" y="1199065"/>
            <a:ext cx="9279273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algn="ctr">
              <a:buClr>
                <a:schemeClr val="dk1"/>
              </a:buClr>
              <a:buSzPts val="1100"/>
            </a:pPr>
            <a:r>
              <a:rPr lang="e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DEPARTMENT OF COMPUTER ENGINEERING</a:t>
            </a:r>
            <a:endParaRPr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ome" panose="020B0503030204020804" pitchFamily="34" charset="0"/>
              <a:cs typeface="Biome" panose="020B0503030204020804" pitchFamily="34" charset="0"/>
            </a:endParaRPr>
          </a:p>
          <a:p>
            <a:endParaRPr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1637" y="0"/>
            <a:ext cx="6668727" cy="122843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56;p13">
            <a:extLst>
              <a:ext uri="{FF2B5EF4-FFF2-40B4-BE49-F238E27FC236}">
                <a16:creationId xmlns:a16="http://schemas.microsoft.com/office/drawing/2014/main" id="{CF4C0648-482A-6B88-D7D3-CFE36325851D}"/>
              </a:ext>
            </a:extLst>
          </p:cNvPr>
          <p:cNvSpPr txBox="1"/>
          <p:nvPr/>
        </p:nvSpPr>
        <p:spPr>
          <a:xfrm>
            <a:off x="2210991" y="6098005"/>
            <a:ext cx="7322472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algn="ctr">
              <a:buClr>
                <a:schemeClr val="dk1"/>
              </a:buClr>
              <a:buSzPts val="1100"/>
            </a:pPr>
            <a:r>
              <a:rPr lang="en" sz="213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the Guidance of</a:t>
            </a:r>
            <a:r>
              <a:rPr lang="en" sz="213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" sz="2133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 Harshada Sonkamble</a:t>
            </a:r>
            <a:endParaRPr sz="2133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ome" panose="020B0503030204020804" pitchFamily="34" charset="0"/>
              <a:cs typeface="Biome" panose="020B0503030204020804" pitchFamily="34" charset="0"/>
            </a:endParaRPr>
          </a:p>
          <a:p>
            <a:endParaRPr sz="2133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" name="Google Shape;56;p13">
            <a:extLst>
              <a:ext uri="{FF2B5EF4-FFF2-40B4-BE49-F238E27FC236}">
                <a16:creationId xmlns:a16="http://schemas.microsoft.com/office/drawing/2014/main" id="{A0D46B3A-7E2F-382B-3942-D8FC8823A5D4}"/>
              </a:ext>
            </a:extLst>
          </p:cNvPr>
          <p:cNvSpPr txBox="1"/>
          <p:nvPr/>
        </p:nvSpPr>
        <p:spPr>
          <a:xfrm>
            <a:off x="625973" y="2754479"/>
            <a:ext cx="1049250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algn="ctr">
              <a:buClr>
                <a:schemeClr val="dk1"/>
              </a:buClr>
              <a:buSzPts val="1100"/>
            </a:pPr>
            <a:r>
              <a:rPr lang="en-US" b="1" dirty="0"/>
              <a:t>An NLP-Based Digital Healthcare Consultation System</a:t>
            </a:r>
            <a:endParaRPr sz="2133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DB59E14-0CCB-2FE6-6501-9F1C72F2ED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4643108"/>
              </p:ext>
            </p:extLst>
          </p:nvPr>
        </p:nvGraphicFramePr>
        <p:xfrm>
          <a:off x="2974840" y="3245068"/>
          <a:ext cx="6246368" cy="3407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vortex dir="d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0F172A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04672"/>
            <a:ext cx="658368" cy="502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896112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A safety-first consultation workflow combining deterministic NLP, curated knowledge and constrained language-model synthesis.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01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417320"/>
            <a:ext cx="4617720" cy="48920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27632"/>
            <a:ext cx="64008" cy="237744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609344"/>
            <a:ext cx="3877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THE 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57400"/>
            <a:ext cx="4133087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3794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 dirty="0">
                <a:solidFill>
                  <a:srgbClr val="DC2626"/>
                </a:solidFill>
                <a:latin typeface="Aptos"/>
              </a:rPr>
              <a:t>01  Hallucination &amp; black-box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41448"/>
            <a:ext cx="3794760" cy="5262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 dirty="0">
                <a:solidFill>
                  <a:srgbClr val="0F172A"/>
                </a:solidFill>
                <a:latin typeface="Aptos"/>
              </a:rPr>
              <a:t>Unconstrained LLM responses may contain unsupported medical claims and provide little visibility into how an answer was formed.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355848"/>
            <a:ext cx="4133087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3794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ptos"/>
              </a:rPr>
              <a:t>02  Negation blindness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39896"/>
            <a:ext cx="3794760" cy="5262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Keyword matching can misread “sore throat but no fever” as fever-positive when symptom context and negation scope are ignored.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654296"/>
            <a:ext cx="4133087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764024"/>
            <a:ext cx="3794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ptos"/>
              </a:rPr>
              <a:t>03  Missing emergency 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38344"/>
            <a:ext cx="3794760" cy="35702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A generic chatbot may offer routine advice despite red flags that require immediate emergency assessment.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0952" y="1417320"/>
            <a:ext cx="6336792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559552" y="1627632"/>
            <a:ext cx="64008" cy="237744"/>
          </a:xfrm>
          <a:prstGeom prst="rect">
            <a:avLst/>
          </a:prstGeom>
          <a:solidFill>
            <a:srgbClr val="0D5C3A"/>
          </a:solidFill>
          <a:ln>
            <a:solidFill>
              <a:srgbClr val="0D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05856" y="1609344"/>
            <a:ext cx="5522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FOUR OBJECTIVE PILLARS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59552" y="2029968"/>
            <a:ext cx="2816352" cy="16642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705856" y="2157984"/>
            <a:ext cx="384048" cy="25603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6350"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33288" y="2167128"/>
            <a:ext cx="329184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D5C3A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05856" y="2532888"/>
            <a:ext cx="2514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Deterministic NLP preprocessing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05856" y="2944368"/>
            <a:ext cx="25146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Normalize text, tokenize, lemmatize and apply NegEx-inspired negation-scope detection.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58784" y="2029968"/>
            <a:ext cx="2816352" cy="16642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705088" y="2157984"/>
            <a:ext cx="384048" cy="25603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6350"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32519" y="2167128"/>
            <a:ext cx="329184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D5C3A"/>
                </a:solidFill>
                <a:latin typeface="Apto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2532888"/>
            <a:ext cx="2514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Clinical entity &amp; context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05088" y="2944368"/>
            <a:ext cx="25146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Parse symptom mentions alongside duration, anatomical site and severity cues.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59552" y="3931920"/>
            <a:ext cx="2816352" cy="16642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705856" y="4059935"/>
            <a:ext cx="384048" cy="25603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6350"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33288" y="4069079"/>
            <a:ext cx="329184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D5C3A"/>
                </a:solidFill>
                <a:latin typeface="Apto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05856" y="4434840"/>
            <a:ext cx="2514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Grounded retrieval &amp; safe synthesis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05856" y="4846320"/>
            <a:ext cx="2514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0" i="0" dirty="0">
                <a:solidFill>
                  <a:srgbClr val="475569"/>
                </a:solidFill>
                <a:latin typeface="Aptos"/>
              </a:rPr>
              <a:t>Use data/</a:t>
            </a:r>
            <a:r>
              <a:rPr sz="1100" b="0" i="0" dirty="0" err="1">
                <a:solidFill>
                  <a:srgbClr val="475569"/>
                </a:solidFill>
                <a:latin typeface="Aptos"/>
              </a:rPr>
              <a:t>symptoms.json</a:t>
            </a:r>
            <a:r>
              <a:rPr sz="1100" b="0" i="0" dirty="0">
                <a:solidFill>
                  <a:srgbClr val="475569"/>
                </a:solidFill>
                <a:latin typeface="Aptos"/>
              </a:rPr>
              <a:t> as the curated knowledge source and constrain </a:t>
            </a:r>
            <a:r>
              <a:rPr sz="1100" b="0" i="0" dirty="0" err="1">
                <a:solidFill>
                  <a:srgbClr val="475569"/>
                </a:solidFill>
                <a:latin typeface="Aptos"/>
              </a:rPr>
              <a:t>Groq</a:t>
            </a:r>
            <a:r>
              <a:rPr sz="1100" b="0" i="0" dirty="0">
                <a:solidFill>
                  <a:srgbClr val="475569"/>
                </a:solidFill>
                <a:latin typeface="Aptos"/>
              </a:rPr>
              <a:t> LLaMA-3.1 output to a defined healthcare-support role.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58784" y="3931920"/>
            <a:ext cx="2816352" cy="16642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705088" y="4059935"/>
            <a:ext cx="384048" cy="25603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6350"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32519" y="4069079"/>
            <a:ext cx="329184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D5C3A"/>
                </a:solidFill>
                <a:latin typeface="Aptos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8" y="4434840"/>
            <a:ext cx="2514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Explainable AI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4846320"/>
            <a:ext cx="25146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Expose intermediate pipeline stages, browser text-to-speech and exportable PDF consultation audit summaries.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6565392"/>
            <a:ext cx="6858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MEDIMATE  •  NLP-BASED DIGITAL HEALTHCARE CONSULTATION &amp; TRIAGE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65392"/>
            <a:ext cx="685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MINI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0F172A"/>
                </a:solidFill>
                <a:latin typeface="Aptos"/>
              </a:rPr>
              <a:t>Project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04672"/>
            <a:ext cx="658368" cy="502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896112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A clearly bounded preliminary guidance tool: useful symptom-context support, not autonomous diagnosis.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02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389888"/>
            <a:ext cx="6565392" cy="5010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260336" y="1389888"/>
            <a:ext cx="4407408" cy="501091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" y="1609344"/>
            <a:ext cx="1078992" cy="292608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6350"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18488"/>
            <a:ext cx="1024127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D5C3A"/>
                </a:solidFill>
                <a:latin typeface="Aptos"/>
              </a:rPr>
              <a:t>IN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09344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635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25511" y="1618488"/>
            <a:ext cx="1362456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DC2626"/>
                </a:solidFill>
                <a:latin typeface="Aptos"/>
              </a:rPr>
              <a:t>BOUNDARIES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084831"/>
            <a:ext cx="6089904" cy="58521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896112" y="2176272"/>
            <a:ext cx="25603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2157984"/>
            <a:ext cx="5422392" cy="3877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Extract common acute symptoms: headache, fever, sore throat, cough, cold and abdominal discomfort.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52344"/>
            <a:ext cx="6089904" cy="58521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896112" y="2843784"/>
            <a:ext cx="25603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2825496"/>
            <a:ext cx="5422392" cy="20313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Use negation context to reduce false-positive symptom matching.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419856"/>
            <a:ext cx="6089904" cy="58521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896112" y="3511296"/>
            <a:ext cx="25603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493008"/>
            <a:ext cx="5422392" cy="3877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Trigger emergency escalation for configured red flags such as chest pain, dyspnea, unconsciousness or severe hemorrhage.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087368"/>
            <a:ext cx="6089904" cy="58521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896112" y="4178807"/>
            <a:ext cx="25603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4160520"/>
            <a:ext cx="5422392" cy="3877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Provide grounded home-care and lifestyle guidance plus OTC awareness—not personalized prescribing.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754879"/>
            <a:ext cx="6089904" cy="58521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" name="TextBox 24"/>
          <p:cNvSpPr txBox="1"/>
          <p:nvPr/>
        </p:nvSpPr>
        <p:spPr>
          <a:xfrm>
            <a:off x="896112" y="4846319"/>
            <a:ext cx="25603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4828031"/>
            <a:ext cx="5422392" cy="3877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Show tokens, lemmas, detected entities and confidence indicators in an explainability panel.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422392"/>
            <a:ext cx="6089904" cy="58521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896112" y="5513831"/>
            <a:ext cx="25603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5495544"/>
            <a:ext cx="5422392" cy="3877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Persist consultation history locally in SQLite and export a client-side PDF health summary.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2084831"/>
            <a:ext cx="3913632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TextBox 30"/>
          <p:cNvSpPr txBox="1"/>
          <p:nvPr/>
        </p:nvSpPr>
        <p:spPr>
          <a:xfrm>
            <a:off x="7653527" y="2194560"/>
            <a:ext cx="228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ptos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2176272"/>
            <a:ext cx="3218688" cy="3877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Does not replace a qualified clinician, diagnosis, or emergency medical service.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79" y="3090672"/>
            <a:ext cx="3913632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7653527" y="3200400"/>
            <a:ext cx="228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ptos"/>
              </a:rPr>
              <a:t>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3182112"/>
            <a:ext cx="3218688" cy="3877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No regulated dosage recommendations or controlled/scheduled drug prescribing.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4096512"/>
            <a:ext cx="3913632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7" name="TextBox 36"/>
          <p:cNvSpPr txBox="1"/>
          <p:nvPr/>
        </p:nvSpPr>
        <p:spPr>
          <a:xfrm>
            <a:off x="7653527" y="4206240"/>
            <a:ext cx="228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ptos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4187952"/>
            <a:ext cx="3218688" cy="3877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English text and voice input only in the baseline; multilingual support is future work.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5102352"/>
            <a:ext cx="3913632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0" name="TextBox 39"/>
          <p:cNvSpPr txBox="1"/>
          <p:nvPr/>
        </p:nvSpPr>
        <p:spPr>
          <a:xfrm>
            <a:off x="7653527" y="5212080"/>
            <a:ext cx="228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ptos"/>
              </a:rPr>
              <a:t>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5193792"/>
            <a:ext cx="3218688" cy="3877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No direct EHR, HL7 or FHIR integration in the baseline release.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" y="6565392"/>
            <a:ext cx="6858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MEDIMATE  •  NLP-BASED DIGITAL HEALTHCARE CONSULTATION &amp; TRIAGE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65392"/>
            <a:ext cx="685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MINI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0F172A"/>
                </a:solidFill>
                <a:latin typeface="Aptos"/>
              </a:rPr>
              <a:t>Sustainable Development Goals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04672"/>
            <a:ext cx="658368" cy="502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896112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The project supports access, responsible innovation and inclusion through preliminary—not diagnostic—health guidance.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03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572768"/>
            <a:ext cx="342900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2064" y="1572768"/>
            <a:ext cx="3429000" cy="749808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12700"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700784"/>
            <a:ext cx="5852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0D5C3A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700784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F172A"/>
                </a:solidFill>
                <a:latin typeface="Aptos"/>
              </a:rPr>
              <a:t>GOOD HEALTH &amp; WELL-BEING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78608"/>
            <a:ext cx="1097280" cy="27432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6350"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740664" y="2614200"/>
            <a:ext cx="1042415" cy="20313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Target 3.8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990088" cy="3877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Accessible preliminary health information and safer over-the-counter health literacy.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977639"/>
            <a:ext cx="299008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TARGET 3.D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315968"/>
            <a:ext cx="2990088" cy="572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Rule-triggered recognition of configured red flags supports earlier warning and emergency risk escalation.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632704"/>
            <a:ext cx="29900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475569"/>
                </a:solidFill>
                <a:latin typeface="Aptos"/>
              </a:rPr>
              <a:t>CONTRIBUTION IS DESIGN-INTENT, NOT MEASURED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572768"/>
            <a:ext cx="342900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79976" y="1572768"/>
            <a:ext cx="3429000" cy="7498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1144" y="1700784"/>
            <a:ext cx="5852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0F766E"/>
                </a:solidFill>
                <a:latin typeface="Aptos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1700784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F172A"/>
                </a:solidFill>
                <a:latin typeface="Aptos"/>
              </a:rPr>
              <a:t>INDUSTRY, INNOVATION &amp; INFRASTRUCTURE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81144" y="2578608"/>
            <a:ext cx="1097280" cy="2743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4608576" y="2614200"/>
            <a:ext cx="1042415" cy="20313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F766E"/>
                </a:solidFill>
                <a:latin typeface="Aptos"/>
              </a:rPr>
              <a:t>Target 9.5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2944368"/>
            <a:ext cx="2990088" cy="572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An applied clinical-NLP prototype that combines transparent rules with modern language-model synthesis.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3977639"/>
            <a:ext cx="299008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F766E"/>
                </a:solidFill>
                <a:latin typeface="Aptos"/>
              </a:rPr>
              <a:t>CONTRIBUTION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4315968"/>
            <a:ext cx="2990088" cy="3877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Stage-level traces make the hybrid design easier to inspect, evaluate and improve.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5632704"/>
            <a:ext cx="29900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475569"/>
                </a:solidFill>
                <a:latin typeface="Aptos"/>
              </a:rPr>
              <a:t>CONTRIBUTION IS DESIGN-INTENT, NOT MEASURED IMPACT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1572768"/>
            <a:ext cx="342900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47888" y="1572768"/>
            <a:ext cx="3429000" cy="749808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2700">
            <a:solidFill>
              <a:srgbClr val="FFF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49056" y="1700784"/>
            <a:ext cx="5852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D97706"/>
                </a:solidFill>
                <a:latin typeface="Aptos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1700784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F172A"/>
                </a:solidFill>
                <a:latin typeface="Aptos"/>
              </a:rPr>
              <a:t>REDUCED INEQUALITIES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49056" y="2578608"/>
            <a:ext cx="1097280" cy="27432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6350">
            <a:solidFill>
              <a:srgbClr val="FFF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TextBox 30"/>
          <p:cNvSpPr txBox="1"/>
          <p:nvPr/>
        </p:nvSpPr>
        <p:spPr>
          <a:xfrm>
            <a:off x="8476488" y="2614200"/>
            <a:ext cx="1042415" cy="20313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97706"/>
                </a:solidFill>
                <a:latin typeface="Aptos"/>
              </a:rPr>
              <a:t>Target 10.2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2944368"/>
            <a:ext cx="2990088" cy="572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A simple consultation interface can lower friction for people seeking initial symptom information.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3977639"/>
            <a:ext cx="299008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D97706"/>
                </a:solidFill>
                <a:latin typeface="Aptos"/>
              </a:rPr>
              <a:t>DESIGN INTENT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6" y="4315968"/>
            <a:ext cx="2990088" cy="75713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Local consultation persistence and a lightweight web client are intended to reduce access barriers; actual access depends on device and connectivity.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49056" y="5632704"/>
            <a:ext cx="29900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475569"/>
                </a:solidFill>
                <a:latin typeface="Aptos"/>
              </a:rPr>
              <a:t>CONTRIBUTION IS DESIGN-INTENT, NOT MEASURED IMPACT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6565392"/>
            <a:ext cx="6858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MEDIMATE  •  NLP-BASED DIGITAL HEALTHCARE CONSULTATION &amp; TRIAGE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65392"/>
            <a:ext cx="685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MINI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0F172A"/>
                </a:solidFill>
                <a:latin typeface="Aptos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04672"/>
            <a:ext cx="658368" cy="502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896112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Four modular layers separate interaction, API orchestration, deterministic clinical NLP and grounded response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04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426464"/>
            <a:ext cx="5468112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581912"/>
            <a:ext cx="384048" cy="25603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6350"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591056"/>
            <a:ext cx="329184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D5C3A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1581912"/>
            <a:ext cx="44805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 dirty="0">
                <a:solidFill>
                  <a:srgbClr val="0D5C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FRONTEND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React 18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04288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75569"/>
                </a:solidFill>
                <a:latin typeface="Aptos"/>
              </a:rPr>
              <a:t>• Component-driven UI and fast development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69464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75569"/>
                </a:solidFill>
                <a:latin typeface="Aptos"/>
              </a:rPr>
              <a:t>• Vanilla CSS3 • bento cards • Lucide-React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834640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475569"/>
                </a:solidFill>
                <a:latin typeface="Aptos"/>
              </a:rPr>
              <a:t>• Web Speech API: speech recognition (STT) and synthesis (TTS)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099815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75569"/>
                </a:solidFill>
                <a:latin typeface="Aptos"/>
              </a:rPr>
              <a:t>• Interactive SVG chemist avatar and pipeline visualizer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426464"/>
            <a:ext cx="5468112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64224" y="1581912"/>
            <a:ext cx="384048" cy="2560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91656" y="1591056"/>
            <a:ext cx="329184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F766E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2" y="1581912"/>
            <a:ext cx="44805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76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BACKEND 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193852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Python 3.10+ • Flask 3.0.3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04288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75569"/>
                </a:solidFill>
                <a:latin typeface="Aptos"/>
              </a:rPr>
              <a:t>• REST endpoints connect the client to the processing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69464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75569"/>
                </a:solidFill>
                <a:latin typeface="Aptos"/>
              </a:rPr>
              <a:t>• Flask-CORS • python-dotenv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75569"/>
                </a:solidFill>
                <a:latin typeface="Aptos"/>
              </a:rPr>
              <a:t>• FPDF2 for consultation-summary PDFs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99815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75569"/>
                </a:solidFill>
                <a:latin typeface="Aptos"/>
              </a:rPr>
              <a:t>• SQLite3 for local session persistence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3840480"/>
            <a:ext cx="5468112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6656" y="3995928"/>
            <a:ext cx="384048" cy="25603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6350"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" y="4005072"/>
            <a:ext cx="329184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D5C3A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7864" y="3995928"/>
            <a:ext cx="44805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D5C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NLP &amp; CLINICAL EXTRACTION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4352544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Rule-based text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718304"/>
            <a:ext cx="546811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475569"/>
                </a:solidFill>
                <a:latin typeface="Aptos"/>
              </a:rPr>
              <a:t>• Regex normalization and tokenization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983480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475569"/>
                </a:solidFill>
                <a:latin typeface="Aptos"/>
              </a:rPr>
              <a:t>• </a:t>
            </a:r>
            <a:r>
              <a:rPr sz="1400" b="0" i="0" dirty="0" err="1">
                <a:solidFill>
                  <a:srgbClr val="475569"/>
                </a:solidFill>
                <a:latin typeface="Aptos"/>
              </a:rPr>
              <a:t>NegEx</a:t>
            </a:r>
            <a:r>
              <a:rPr sz="1400" b="0" i="0" dirty="0">
                <a:solidFill>
                  <a:srgbClr val="475569"/>
                </a:solidFill>
                <a:latin typeface="Aptos"/>
              </a:rPr>
              <a:t>-inspired pre/post-symptom scope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248656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75569"/>
                </a:solidFill>
                <a:latin typeface="Aptos"/>
              </a:rPr>
              <a:t>• Regex-based duration, body-site and severity parsing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513832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75569"/>
                </a:solidFill>
                <a:latin typeface="Aptos"/>
              </a:rPr>
              <a:t>• Deterministic red-flag trigger matrix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3840480"/>
            <a:ext cx="5468112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364224" y="3995928"/>
            <a:ext cx="384048" cy="2560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91656" y="4005072"/>
            <a:ext cx="329184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F766E"/>
                </a:solidFill>
                <a:latin typeface="Aptos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5432" y="3995928"/>
            <a:ext cx="44805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76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INFERENCE &amp; KNOWLEDGE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352544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Curated JSON ontology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718304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475569"/>
                </a:solidFill>
                <a:latin typeface="Aptos"/>
              </a:rPr>
              <a:t>• Synonyms, descriptions, home-care guidance </a:t>
            </a:r>
            <a:r>
              <a:rPr lang="en-IN" sz="1400" b="0" i="0" dirty="0">
                <a:solidFill>
                  <a:srgbClr val="475569"/>
                </a:solidFill>
                <a:latin typeface="Aptos"/>
              </a:rPr>
              <a:t>&amp; </a:t>
            </a:r>
            <a:r>
              <a:rPr sz="1400" b="0" i="0" dirty="0">
                <a:solidFill>
                  <a:srgbClr val="475569"/>
                </a:solidFill>
                <a:latin typeface="Aptos"/>
              </a:rPr>
              <a:t>warning signs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983480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75569"/>
                </a:solidFill>
                <a:latin typeface="Aptos"/>
              </a:rPr>
              <a:t>• Groq REST API • LLaMA-3.1-8B-Instant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48656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75569"/>
                </a:solidFill>
                <a:latin typeface="Aptos"/>
              </a:rPr>
              <a:t>• Structured clinical context used to ground response generation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513832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75569"/>
                </a:solidFill>
                <a:latin typeface="Aptos"/>
              </a:rPr>
              <a:t>• Rule-based fallback for graceful offline degradation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" y="6565392"/>
            <a:ext cx="6858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MEDIMATE  •  NLP-BASED DIGITAL HEALTHCARE CONSULTATION &amp; TRIAGE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65392"/>
            <a:ext cx="685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MINI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0F172A"/>
                </a:solidFill>
                <a:latin typeface="Aptos"/>
              </a:rPr>
              <a:t>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04672"/>
            <a:ext cx="658368" cy="502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896112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Ten foundational studies and frameworks inform the system's negation handling, clinical NLP, grounding and triage rationale.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05 /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353312"/>
            <a:ext cx="347472" cy="393192"/>
          </a:xfrm>
          <a:prstGeom prst="rect">
            <a:avLst/>
          </a:prstGeom>
          <a:solidFill>
            <a:srgbClr val="0D5C3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465179"/>
            <a:ext cx="274320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353312"/>
            <a:ext cx="2029968" cy="393192"/>
          </a:xfrm>
          <a:prstGeom prst="rect">
            <a:avLst/>
          </a:prstGeom>
          <a:solidFill>
            <a:srgbClr val="0D5C3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65179"/>
            <a:ext cx="1956816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TECHNIQUE /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6352" y="1353312"/>
            <a:ext cx="1417320" cy="393192"/>
          </a:xfrm>
          <a:prstGeom prst="rect">
            <a:avLst/>
          </a:prstGeom>
          <a:solidFill>
            <a:srgbClr val="0D5C3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52928" y="1465179"/>
            <a:ext cx="1344168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AUTHOR &amp; 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353312"/>
            <a:ext cx="3977639" cy="393192"/>
          </a:xfrm>
          <a:prstGeom prst="rect">
            <a:avLst/>
          </a:prstGeom>
          <a:solidFill>
            <a:srgbClr val="0D5C3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0248" y="1465179"/>
            <a:ext cx="3904487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KEY CONTRIBUTION / FOCUS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11312" y="1353312"/>
            <a:ext cx="3794760" cy="393192"/>
          </a:xfrm>
          <a:prstGeom prst="rect">
            <a:avLst/>
          </a:prstGeom>
          <a:solidFill>
            <a:srgbClr val="0D5C3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465179"/>
            <a:ext cx="3721608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LIMITATION / RESEARCH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1746504"/>
            <a:ext cx="347472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7" name="TextBox 16"/>
          <p:cNvSpPr txBox="1"/>
          <p:nvPr/>
        </p:nvSpPr>
        <p:spPr>
          <a:xfrm>
            <a:off x="480060" y="1890420"/>
            <a:ext cx="265176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746504"/>
            <a:ext cx="2029968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9" name="TextBox 18"/>
          <p:cNvSpPr txBox="1"/>
          <p:nvPr/>
        </p:nvSpPr>
        <p:spPr>
          <a:xfrm>
            <a:off x="827532" y="1890420"/>
            <a:ext cx="1947672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Aptos"/>
              </a:rPr>
              <a:t>NegEx: rule-based negation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16352" y="1746504"/>
            <a:ext cx="1417320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1" name="TextBox 20"/>
          <p:cNvSpPr txBox="1"/>
          <p:nvPr/>
        </p:nvSpPr>
        <p:spPr>
          <a:xfrm>
            <a:off x="2857500" y="1805781"/>
            <a:ext cx="133502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Chapman et al. (2001)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3672" y="1746504"/>
            <a:ext cx="3977639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3" name="TextBox 22"/>
          <p:cNvSpPr txBox="1"/>
          <p:nvPr/>
        </p:nvSpPr>
        <p:spPr>
          <a:xfrm>
            <a:off x="4274820" y="1805781"/>
            <a:ext cx="389534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Introduced trigger phrases and scope rules to identify negated findings in clinical text.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11312" y="1746504"/>
            <a:ext cx="3794760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5" name="TextBox 24"/>
          <p:cNvSpPr txBox="1"/>
          <p:nvPr/>
        </p:nvSpPr>
        <p:spPr>
          <a:xfrm>
            <a:off x="8252460" y="1890420"/>
            <a:ext cx="3712464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Can miss informal syntax, typos and complex scope.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2194560"/>
            <a:ext cx="347472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7" name="TextBox 26"/>
          <p:cNvSpPr txBox="1"/>
          <p:nvPr/>
        </p:nvSpPr>
        <p:spPr>
          <a:xfrm>
            <a:off x="480060" y="2338477"/>
            <a:ext cx="265176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" y="2194560"/>
            <a:ext cx="2029968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9" name="TextBox 28"/>
          <p:cNvSpPr txBox="1"/>
          <p:nvPr/>
        </p:nvSpPr>
        <p:spPr>
          <a:xfrm>
            <a:off x="827532" y="2338477"/>
            <a:ext cx="1947672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Aptos"/>
              </a:rPr>
              <a:t>cTAKES clinical NLP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16352" y="2194560"/>
            <a:ext cx="1417320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1" name="TextBox 30"/>
          <p:cNvSpPr txBox="1"/>
          <p:nvPr/>
        </p:nvSpPr>
        <p:spPr>
          <a:xfrm>
            <a:off x="2857500" y="2338477"/>
            <a:ext cx="1335024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Savova et al. (2010)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33672" y="2194560"/>
            <a:ext cx="3977639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3" name="TextBox 32"/>
          <p:cNvSpPr txBox="1"/>
          <p:nvPr/>
        </p:nvSpPr>
        <p:spPr>
          <a:xfrm>
            <a:off x="4274820" y="2253838"/>
            <a:ext cx="389534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Modular pipeline for clinical entity extraction and knowledge processing.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11312" y="2194560"/>
            <a:ext cx="3794760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5" name="TextBox 34"/>
          <p:cNvSpPr txBox="1"/>
          <p:nvPr/>
        </p:nvSpPr>
        <p:spPr>
          <a:xfrm>
            <a:off x="8252460" y="2253838"/>
            <a:ext cx="371246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Full clinical NLP stack can be heavy for lightweight real-time apps.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2642615"/>
            <a:ext cx="347472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7" name="TextBox 36"/>
          <p:cNvSpPr txBox="1"/>
          <p:nvPr/>
        </p:nvSpPr>
        <p:spPr>
          <a:xfrm>
            <a:off x="480060" y="2786532"/>
            <a:ext cx="265176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" y="2642615"/>
            <a:ext cx="2029968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9" name="TextBox 38"/>
          <p:cNvSpPr txBox="1"/>
          <p:nvPr/>
        </p:nvSpPr>
        <p:spPr>
          <a:xfrm>
            <a:off x="827532" y="2786532"/>
            <a:ext cx="1947672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Aptos"/>
              </a:rPr>
              <a:t>BioBERT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16352" y="2642615"/>
            <a:ext cx="1417320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1" name="TextBox 40"/>
          <p:cNvSpPr txBox="1"/>
          <p:nvPr/>
        </p:nvSpPr>
        <p:spPr>
          <a:xfrm>
            <a:off x="2857500" y="2786532"/>
            <a:ext cx="1335024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Lee et al. (2020)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33672" y="2642615"/>
            <a:ext cx="3977639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3" name="TextBox 42"/>
          <p:cNvSpPr txBox="1"/>
          <p:nvPr/>
        </p:nvSpPr>
        <p:spPr>
          <a:xfrm>
            <a:off x="4274820" y="2701893"/>
            <a:ext cx="389534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Biomedical pretraining improves representations for biomedical text-mining tasks.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11312" y="2642615"/>
            <a:ext cx="3794760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5" name="TextBox 44"/>
          <p:cNvSpPr txBox="1"/>
          <p:nvPr/>
        </p:nvSpPr>
        <p:spPr>
          <a:xfrm>
            <a:off x="8252460" y="2701893"/>
            <a:ext cx="371246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Resource intensive; not itself a conversational generation system.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" y="3090672"/>
            <a:ext cx="347472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7" name="TextBox 46"/>
          <p:cNvSpPr txBox="1"/>
          <p:nvPr/>
        </p:nvSpPr>
        <p:spPr>
          <a:xfrm>
            <a:off x="480060" y="3234589"/>
            <a:ext cx="265176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" y="3090672"/>
            <a:ext cx="2029968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9" name="TextBox 48"/>
          <p:cNvSpPr txBox="1"/>
          <p:nvPr/>
        </p:nvSpPr>
        <p:spPr>
          <a:xfrm>
            <a:off x="827532" y="3234589"/>
            <a:ext cx="1947672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Aptos"/>
              </a:rPr>
              <a:t>Symptom-checker audit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16352" y="3090672"/>
            <a:ext cx="1417320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51" name="TextBox 50"/>
          <p:cNvSpPr txBox="1"/>
          <p:nvPr/>
        </p:nvSpPr>
        <p:spPr>
          <a:xfrm>
            <a:off x="2857500" y="3234589"/>
            <a:ext cx="1335024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Semigran et al. (2015)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33672" y="3090672"/>
            <a:ext cx="3977639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53" name="TextBox 52"/>
          <p:cNvSpPr txBox="1"/>
          <p:nvPr/>
        </p:nvSpPr>
        <p:spPr>
          <a:xfrm>
            <a:off x="4274820" y="3149950"/>
            <a:ext cx="389534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Evaluated diagnostic and triage performance of consumer symptom checkers.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11312" y="3090672"/>
            <a:ext cx="3794760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55" name="TextBox 54"/>
          <p:cNvSpPr txBox="1"/>
          <p:nvPr/>
        </p:nvSpPr>
        <p:spPr>
          <a:xfrm>
            <a:off x="8252460" y="3234589"/>
            <a:ext cx="3712464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Reported variation in accuracy and triage safety across tools.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" y="3538728"/>
            <a:ext cx="347472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57" name="TextBox 56"/>
          <p:cNvSpPr txBox="1"/>
          <p:nvPr/>
        </p:nvSpPr>
        <p:spPr>
          <a:xfrm>
            <a:off x="480060" y="3682645"/>
            <a:ext cx="265176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" y="3538728"/>
            <a:ext cx="2029968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59" name="TextBox 58"/>
          <p:cNvSpPr txBox="1"/>
          <p:nvPr/>
        </p:nvSpPr>
        <p:spPr>
          <a:xfrm>
            <a:off x="827532" y="3682645"/>
            <a:ext cx="1947672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Aptos"/>
              </a:rPr>
              <a:t>Grounding LLMs for medicine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16352" y="3538728"/>
            <a:ext cx="1417320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61" name="TextBox 60"/>
          <p:cNvSpPr txBox="1"/>
          <p:nvPr/>
        </p:nvSpPr>
        <p:spPr>
          <a:xfrm>
            <a:off x="2857500" y="3682645"/>
            <a:ext cx="1335024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Lehman et al. (2023)*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33672" y="3538728"/>
            <a:ext cx="3977639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63" name="TextBox 62"/>
          <p:cNvSpPr txBox="1"/>
          <p:nvPr/>
        </p:nvSpPr>
        <p:spPr>
          <a:xfrm>
            <a:off x="4274820" y="3598006"/>
            <a:ext cx="389534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Examines grounding clinical LLM responses in evidence and context.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11312" y="3538728"/>
            <a:ext cx="3794760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65" name="TextBox 64"/>
          <p:cNvSpPr txBox="1"/>
          <p:nvPr/>
        </p:nvSpPr>
        <p:spPr>
          <a:xfrm>
            <a:off x="8252460" y="3598006"/>
            <a:ext cx="371246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Ungrounded prompts remain vulnerable to unsupported responses.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" y="3986784"/>
            <a:ext cx="347472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67" name="TextBox 66"/>
          <p:cNvSpPr txBox="1"/>
          <p:nvPr/>
        </p:nvSpPr>
        <p:spPr>
          <a:xfrm>
            <a:off x="480060" y="4130701"/>
            <a:ext cx="265176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6384" y="3986784"/>
            <a:ext cx="2029968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69" name="TextBox 68"/>
          <p:cNvSpPr txBox="1"/>
          <p:nvPr/>
        </p:nvSpPr>
        <p:spPr>
          <a:xfrm>
            <a:off x="827532" y="4046062"/>
            <a:ext cx="1947672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Aptos"/>
              </a:rPr>
              <a:t>Speech and Language Processing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16352" y="3986784"/>
            <a:ext cx="1417320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71" name="TextBox 70"/>
          <p:cNvSpPr txBox="1"/>
          <p:nvPr/>
        </p:nvSpPr>
        <p:spPr>
          <a:xfrm>
            <a:off x="2857500" y="4046062"/>
            <a:ext cx="133502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Jurafsky &amp; Martin (2023)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33672" y="3986784"/>
            <a:ext cx="3977639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73" name="TextBox 72"/>
          <p:cNvSpPr txBox="1"/>
          <p:nvPr/>
        </p:nvSpPr>
        <p:spPr>
          <a:xfrm>
            <a:off x="4274820" y="4046062"/>
            <a:ext cx="389534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Foundational treatment of tokenization, language models and intent processing.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11312" y="3986784"/>
            <a:ext cx="3794760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75" name="TextBox 74"/>
          <p:cNvSpPr txBox="1"/>
          <p:nvPr/>
        </p:nvSpPr>
        <p:spPr>
          <a:xfrm>
            <a:off x="8252460" y="4046062"/>
            <a:ext cx="371246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General foundations require domain-specific clinical safety layers.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8912" y="4434840"/>
            <a:ext cx="347472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77" name="TextBox 76"/>
          <p:cNvSpPr txBox="1"/>
          <p:nvPr/>
        </p:nvSpPr>
        <p:spPr>
          <a:xfrm>
            <a:off x="480060" y="4578757"/>
            <a:ext cx="265176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6384" y="4434840"/>
            <a:ext cx="2029968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79" name="TextBox 78"/>
          <p:cNvSpPr txBox="1"/>
          <p:nvPr/>
        </p:nvSpPr>
        <p:spPr>
          <a:xfrm>
            <a:off x="827532" y="4494118"/>
            <a:ext cx="1947672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Aptos"/>
              </a:rPr>
              <a:t>Natural Language Toolkit (NLTK)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16352" y="4434840"/>
            <a:ext cx="1417320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81" name="TextBox 80"/>
          <p:cNvSpPr txBox="1"/>
          <p:nvPr/>
        </p:nvSpPr>
        <p:spPr>
          <a:xfrm>
            <a:off x="2857500" y="4578757"/>
            <a:ext cx="1335024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Loper &amp; Bird (2002)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33672" y="4434840"/>
            <a:ext cx="3977639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83" name="TextBox 82"/>
          <p:cNvSpPr txBox="1"/>
          <p:nvPr/>
        </p:nvSpPr>
        <p:spPr>
          <a:xfrm>
            <a:off x="4274820" y="4494118"/>
            <a:ext cx="389534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Accessible Python toolkit for tokenization and traditional NLP workflows.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11312" y="4434840"/>
            <a:ext cx="3794760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85" name="TextBox 84"/>
          <p:cNvSpPr txBox="1"/>
          <p:nvPr/>
        </p:nvSpPr>
        <p:spPr>
          <a:xfrm>
            <a:off x="8252460" y="4494118"/>
            <a:ext cx="371246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Rule-based methods may lack robust contextual generalization.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38912" y="4882896"/>
            <a:ext cx="347472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87" name="TextBox 86"/>
          <p:cNvSpPr txBox="1"/>
          <p:nvPr/>
        </p:nvSpPr>
        <p:spPr>
          <a:xfrm>
            <a:off x="480060" y="5026813"/>
            <a:ext cx="265176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6384" y="4882896"/>
            <a:ext cx="2029968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89" name="TextBox 88"/>
          <p:cNvSpPr txBox="1"/>
          <p:nvPr/>
        </p:nvSpPr>
        <p:spPr>
          <a:xfrm>
            <a:off x="827532" y="4942174"/>
            <a:ext cx="1947672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Aptos"/>
              </a:rPr>
              <a:t>Content-based information retrieval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816352" y="4882896"/>
            <a:ext cx="1417320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1" name="TextBox 90"/>
          <p:cNvSpPr txBox="1"/>
          <p:nvPr/>
        </p:nvSpPr>
        <p:spPr>
          <a:xfrm>
            <a:off x="2857500" y="5026813"/>
            <a:ext cx="1335024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Lops et al. (2011)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33672" y="4882896"/>
            <a:ext cx="3977639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3" name="TextBox 92"/>
          <p:cNvSpPr txBox="1"/>
          <p:nvPr/>
        </p:nvSpPr>
        <p:spPr>
          <a:xfrm>
            <a:off x="4274820" y="4942174"/>
            <a:ext cx="389534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Maps item/user features to support content-based retrieval approaches.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11312" y="4882896"/>
            <a:ext cx="3794760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5" name="TextBox 94"/>
          <p:cNvSpPr txBox="1"/>
          <p:nvPr/>
        </p:nvSpPr>
        <p:spPr>
          <a:xfrm>
            <a:off x="8252460" y="5026813"/>
            <a:ext cx="3712464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Vocabulary mismatch and sparse profiles can limit matching.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38912" y="5330952"/>
            <a:ext cx="347472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7" name="TextBox 96"/>
          <p:cNvSpPr txBox="1"/>
          <p:nvPr/>
        </p:nvSpPr>
        <p:spPr>
          <a:xfrm>
            <a:off x="480060" y="5474869"/>
            <a:ext cx="265176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6384" y="5330952"/>
            <a:ext cx="2029968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9" name="TextBox 98"/>
          <p:cNvSpPr txBox="1"/>
          <p:nvPr/>
        </p:nvSpPr>
        <p:spPr>
          <a:xfrm>
            <a:off x="827532" y="5474869"/>
            <a:ext cx="1947672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Aptos"/>
              </a:rPr>
              <a:t>Med-PaLM / medical QA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816352" y="5330952"/>
            <a:ext cx="1417320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1" name="TextBox 100"/>
          <p:cNvSpPr txBox="1"/>
          <p:nvPr/>
        </p:nvSpPr>
        <p:spPr>
          <a:xfrm>
            <a:off x="2857500" y="5474869"/>
            <a:ext cx="1335024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Singhal et al. (2023)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33672" y="5330952"/>
            <a:ext cx="3977639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3" name="TextBox 102"/>
          <p:cNvSpPr txBox="1"/>
          <p:nvPr/>
        </p:nvSpPr>
        <p:spPr>
          <a:xfrm>
            <a:off x="4274820" y="5390230"/>
            <a:ext cx="389534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Studies foundation-model capabilities on medical question-answering tasks.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211312" y="5330952"/>
            <a:ext cx="3794760" cy="448056"/>
          </a:xfrm>
          <a:prstGeom prst="rect">
            <a:avLst/>
          </a:prstGeom>
          <a:solidFill>
            <a:srgbClr val="FFFFFF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5" name="TextBox 104"/>
          <p:cNvSpPr txBox="1"/>
          <p:nvPr/>
        </p:nvSpPr>
        <p:spPr>
          <a:xfrm>
            <a:off x="8252460" y="5474869"/>
            <a:ext cx="3712464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Strong benchmark results do not eliminate safety edge cases.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8912" y="5779008"/>
            <a:ext cx="347472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7" name="TextBox 106"/>
          <p:cNvSpPr txBox="1"/>
          <p:nvPr/>
        </p:nvSpPr>
        <p:spPr>
          <a:xfrm>
            <a:off x="480060" y="5922925"/>
            <a:ext cx="265176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10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86384" y="5779008"/>
            <a:ext cx="2029968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9" name="TextBox 108"/>
          <p:cNvSpPr txBox="1"/>
          <p:nvPr/>
        </p:nvSpPr>
        <p:spPr>
          <a:xfrm>
            <a:off x="827532" y="5922925"/>
            <a:ext cx="1947672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Aptos"/>
              </a:rPr>
              <a:t>Clinical informatics &amp; NLP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816352" y="5779008"/>
            <a:ext cx="1417320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11" name="TextBox 110"/>
          <p:cNvSpPr txBox="1"/>
          <p:nvPr/>
        </p:nvSpPr>
        <p:spPr>
          <a:xfrm>
            <a:off x="2857500" y="5922925"/>
            <a:ext cx="1335024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Nadkarni et al. (2011)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33672" y="5779008"/>
            <a:ext cx="3977639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13" name="TextBox 112"/>
          <p:cNvSpPr txBox="1"/>
          <p:nvPr/>
        </p:nvSpPr>
        <p:spPr>
          <a:xfrm>
            <a:off x="4274820" y="5838286"/>
            <a:ext cx="3895344" cy="347788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Discusses methods for extracting structured information from biomedical text.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11312" y="5779008"/>
            <a:ext cx="3794760" cy="448056"/>
          </a:xfrm>
          <a:prstGeom prst="rect">
            <a:avLst/>
          </a:prstGeom>
          <a:solidFill>
            <a:srgbClr val="F8FAFC"/>
          </a:solidFill>
          <a:ln w="571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15" name="TextBox 114"/>
          <p:cNvSpPr txBox="1"/>
          <p:nvPr/>
        </p:nvSpPr>
        <p:spPr>
          <a:xfrm>
            <a:off x="8252460" y="5922925"/>
            <a:ext cx="3712464" cy="17851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Patient wording can diverge from formal clinical terminology.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12064" y="6565392"/>
            <a:ext cx="6858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MEDIMATE  •  NLP-BASED DIGITAL HEALTHCARE CONSULTATION &amp; TRIAGE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972800" y="6565392"/>
            <a:ext cx="685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MINI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0F172A"/>
                </a:solidFill>
                <a:latin typeface="Aptos"/>
              </a:rPr>
              <a:t>System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04672"/>
            <a:ext cx="658368" cy="502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896112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End-to-End Modular Architectural Flow of the MediMate Consultation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06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10360152" cy="45262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" y="6565392"/>
            <a:ext cx="6858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MEDIMATE  •  NLP-BASED DIGITAL HEALTHCARE CONSULTATION &amp;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685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MINI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0F172A"/>
                </a:solidFill>
                <a:latin typeface="Aptos"/>
              </a:rPr>
              <a:t>System UML Diagrams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04672"/>
            <a:ext cx="658368" cy="502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896112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Detailed Behavioral and Structural UML Representations of User Consultations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07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10360152" cy="45262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" y="6565392"/>
            <a:ext cx="6858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MEDIMATE  •  NLP-BASED DIGITAL HEALTHCARE CONSULTATION &amp;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685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MINI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0F172A"/>
                </a:solidFill>
                <a:latin typeface="Aptos"/>
              </a:rPr>
              <a:t>Application Output Screenshots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04672"/>
            <a:ext cx="658368" cy="502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896112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Replace each placeholder with a genuine capture from the running MediMate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08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417320"/>
            <a:ext cx="5468112" cy="21762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468112" cy="21762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2064" y="3886200"/>
            <a:ext cx="5468112" cy="21762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99632" y="3886200"/>
            <a:ext cx="5468112" cy="21762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" y="6565392"/>
            <a:ext cx="6858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MEDIMATE  •  NLP-BASED DIGITAL HEALTHCARE CONSULTATION &amp; 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65392"/>
            <a:ext cx="685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MINI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0F172A"/>
                </a:solidFill>
                <a:latin typeface="Aptos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04672"/>
            <a:ext cx="658368" cy="502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896112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Core academic sources cited in the project rationale. IEEE-style formatting; verify metadata against publisher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09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108813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Rounded Rectangle 6"/>
          <p:cNvSpPr/>
          <p:nvPr/>
        </p:nvSpPr>
        <p:spPr>
          <a:xfrm>
            <a:off x="832104" y="1682496"/>
            <a:ext cx="475488" cy="27432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6350"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" name="TextBox 7"/>
          <p:cNvSpPr txBox="1"/>
          <p:nvPr/>
        </p:nvSpPr>
        <p:spPr>
          <a:xfrm>
            <a:off x="859536" y="1718089"/>
            <a:ext cx="420624" cy="20313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680531"/>
            <a:ext cx="9802368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[1] W. W. Chapman, W. Bridewell, P. Hanbury, G. F. Cooper, and B. G. Buchanan, “A simple algorithm for identifying negated findings and diseases in discharge summaries,” Journal of Biomedical Informatics, vol. 34, no. 5, pp. 301–310, 2001.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95728"/>
            <a:ext cx="10881360" cy="80467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Rounded Rectangle 10"/>
          <p:cNvSpPr/>
          <p:nvPr/>
        </p:nvSpPr>
        <p:spPr>
          <a:xfrm>
            <a:off x="832104" y="2596896"/>
            <a:ext cx="475488" cy="27432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6350"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859536" y="2632489"/>
            <a:ext cx="420624" cy="20313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594931"/>
            <a:ext cx="9802368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[2] G. K. Savova et al., “Mayo clinical Text Analysis and Knowledge Extraction System (cTAKES): Architecture, component evaluation and applications,” Journal of the American Medical Informatics Association, vol. 17, no. 5, pp. 507–513, 2010.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10128"/>
            <a:ext cx="108813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Rounded Rectangle 14"/>
          <p:cNvSpPr/>
          <p:nvPr/>
        </p:nvSpPr>
        <p:spPr>
          <a:xfrm>
            <a:off x="832104" y="3511296"/>
            <a:ext cx="475488" cy="27432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6350"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859536" y="3546889"/>
            <a:ext cx="420624" cy="20313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509331"/>
            <a:ext cx="9802368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[3] J. Lee et al., “BioBERT: a pre-trained biomedical language representation model for biomedical text mining,” Bioinformatics, vol. 36, no. 4, pp. 1234–1240, 2020.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224528"/>
            <a:ext cx="10881360" cy="80467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Rounded Rectangle 18"/>
          <p:cNvSpPr/>
          <p:nvPr/>
        </p:nvSpPr>
        <p:spPr>
          <a:xfrm>
            <a:off x="832104" y="4425696"/>
            <a:ext cx="475488" cy="27432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6350"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59536" y="4461289"/>
            <a:ext cx="420624" cy="20313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[4]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423731"/>
            <a:ext cx="9802368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[4] H. L. Semigran, J. A. Linder, C. Gidengil, and A. Mehrotra, “Evaluation of symptom checkers for self diagnosis and triage: audit study,” The BMJ, vol. 351, p. h3480, 2015.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138928"/>
            <a:ext cx="108813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Rounded Rectangle 22"/>
          <p:cNvSpPr/>
          <p:nvPr/>
        </p:nvSpPr>
        <p:spPr>
          <a:xfrm>
            <a:off x="832104" y="5340096"/>
            <a:ext cx="475488" cy="27432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6350"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859536" y="5375689"/>
            <a:ext cx="420624" cy="20313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D5C3A"/>
                </a:solidFill>
                <a:latin typeface="Aptos"/>
              </a:rPr>
              <a:t>[5]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5338131"/>
            <a:ext cx="9802368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[5] E. Lehman, V. Lialin, D. L. Leggetter, and A. Rumshisky, “Do we still need clinical language models? Grounding large language models for medical applications,” in Proceedings of EMNLP, 2023, pp. 5812–5827.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6144768"/>
            <a:ext cx="10881360" cy="27432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064" y="6565392"/>
            <a:ext cx="6858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0" dirty="0">
                <a:solidFill>
                  <a:srgbClr val="475569"/>
                </a:solidFill>
                <a:latin typeface="Aptos"/>
              </a:rPr>
              <a:t>MEDIMATE  •  NLP-BASED DIGITAL HEALTHCARE CONSULTATION &amp; 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65392"/>
            <a:ext cx="685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MINI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3D66F-46A4-5A13-A36E-D28465545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5EDE39-A6D2-619A-F264-23375CBDE024}"/>
              </a:ext>
            </a:extLst>
          </p:cNvPr>
          <p:cNvSpPr/>
          <p:nvPr/>
        </p:nvSpPr>
        <p:spPr>
          <a:xfrm>
            <a:off x="5766816" y="4105656"/>
            <a:ext cx="658368" cy="502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A6982-803A-B39E-0AF4-D0D4C9FD4750}"/>
              </a:ext>
            </a:extLst>
          </p:cNvPr>
          <p:cNvSpPr txBox="1"/>
          <p:nvPr/>
        </p:nvSpPr>
        <p:spPr>
          <a:xfrm>
            <a:off x="11155680" y="31089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09 / 09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677065D-27E0-CED5-2CC3-A24468C78EDE}"/>
              </a:ext>
            </a:extLst>
          </p:cNvPr>
          <p:cNvSpPr/>
          <p:nvPr/>
        </p:nvSpPr>
        <p:spPr>
          <a:xfrm>
            <a:off x="655320" y="2404872"/>
            <a:ext cx="10881360" cy="117271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C86C68-F5DA-CBC6-91CE-88F0A0DE2315}"/>
              </a:ext>
            </a:extLst>
          </p:cNvPr>
          <p:cNvSpPr txBox="1"/>
          <p:nvPr/>
        </p:nvSpPr>
        <p:spPr>
          <a:xfrm>
            <a:off x="1697736" y="2852731"/>
            <a:ext cx="87965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MEDIMATE  </a:t>
            </a:r>
            <a:r>
              <a:rPr b="0" i="0" dirty="0">
                <a:solidFill>
                  <a:srgbClr val="475569"/>
                </a:solidFill>
                <a:latin typeface="Aptos"/>
              </a:rPr>
              <a:t>•  NLP-BASED DIGITAL HEALTHCARE CONSULTATION &amp; TRIAGE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664271-8619-6F41-F12C-B975F06D81F0}"/>
              </a:ext>
            </a:extLst>
          </p:cNvPr>
          <p:cNvSpPr txBox="1"/>
          <p:nvPr/>
        </p:nvSpPr>
        <p:spPr>
          <a:xfrm>
            <a:off x="10972800" y="6565392"/>
            <a:ext cx="685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MINI PROJECT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6B3464-DE29-198F-6EE0-8EB50697E07D}"/>
              </a:ext>
            </a:extLst>
          </p:cNvPr>
          <p:cNvSpPr txBox="1"/>
          <p:nvPr/>
        </p:nvSpPr>
        <p:spPr>
          <a:xfrm>
            <a:off x="4451158" y="4910328"/>
            <a:ext cx="32896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G Fonts" panose="00000500000000000000" pitchFamily="50" charset="0"/>
              </a:rPr>
              <a:t>T</a:t>
            </a:r>
            <a:r>
              <a:rPr lang="en-I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hank </a:t>
            </a:r>
            <a:r>
              <a:rPr lang="en-IN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G Fonts" panose="00000500000000000000" pitchFamily="50" charset="0"/>
              </a:rPr>
              <a:t>Y</a:t>
            </a:r>
            <a:r>
              <a:rPr lang="en-I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</a:t>
            </a:r>
          </a:p>
        </p:txBody>
      </p:sp>
    </p:spTree>
    <p:extLst>
      <p:ext uri="{BB962C8B-B14F-4D97-AF65-F5344CB8AC3E}">
        <p14:creationId xmlns:p14="http://schemas.microsoft.com/office/powerpoint/2010/main" val="10842549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1520</Words>
  <Application>Microsoft Office PowerPoint</Application>
  <PresentationFormat>Widescreen</PresentationFormat>
  <Paragraphs>218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Abadi</vt:lpstr>
      <vt:lpstr>Aptos</vt:lpstr>
      <vt:lpstr>Arial</vt:lpstr>
      <vt:lpstr>Biome</vt:lpstr>
      <vt:lpstr>Calibri</vt:lpstr>
      <vt:lpstr>ROG Fonts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Amitesh Jain</cp:lastModifiedBy>
  <cp:revision>4</cp:revision>
  <dcterms:created xsi:type="dcterms:W3CDTF">2013-01-27T09:14:16Z</dcterms:created>
  <dcterms:modified xsi:type="dcterms:W3CDTF">2026-10-11T21:02:30Z</dcterms:modified>
  <cp:category/>
</cp:coreProperties>
</file>